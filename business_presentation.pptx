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66CED-74AC-4033-9CA5-F742CD8A8436}" v="176" dt="2026-04-05T11:39:08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4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4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7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1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187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30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1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02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220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744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2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4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17796"/>
            <a:ext cx="9144000" cy="2346411"/>
          </a:xfrm>
        </p:spPr>
        <p:txBody>
          <a:bodyPr>
            <a:normAutofit fontScale="90000"/>
          </a:bodyPr>
          <a:lstStyle/>
          <a:p>
            <a:r>
              <a:rPr lang="en-GB">
                <a:ea typeface="+mj-lt"/>
                <a:cs typeface="+mj-lt"/>
              </a:rPr>
              <a:t>Customer Churn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4322850"/>
            <a:ext cx="12181701" cy="16351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n-lt"/>
                <a:cs typeface="+mn-lt"/>
              </a:rPr>
              <a:t>Submitted by: Shivam Kumar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Course: Data Analysis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Date: 5 April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7C97-C5C3-C350-2102-D85AC3BA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18754-EFCE-623E-98AA-133000230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896671"/>
            <a:ext cx="10268712" cy="32846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Customer churn refers to the loss of customers over a period of time. It is a major concern for businesses because losing customers directly impacts revenue and growth.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This project focuses on </a:t>
            </a:r>
            <a:r>
              <a:rPr lang="en-GB" dirty="0" err="1">
                <a:ea typeface="+mn-lt"/>
                <a:cs typeface="+mn-lt"/>
              </a:rPr>
              <a:t>analyzing</a:t>
            </a:r>
            <a:r>
              <a:rPr lang="en-GB" dirty="0">
                <a:ea typeface="+mn-lt"/>
                <a:cs typeface="+mn-lt"/>
              </a:rPr>
              <a:t> customer data to understand the reasons behind churn and to suggest effective solutions.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25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A7FA-0FE5-903E-664A-A70C5DF3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6E7E4-DC3A-6D98-2DAF-5F0D9522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Businesses are facing a high rate of customer churn.</a:t>
            </a:r>
            <a:endParaRPr lang="en-US"/>
          </a:p>
          <a:p>
            <a:r>
              <a:rPr lang="en-GB">
                <a:ea typeface="+mn-lt"/>
                <a:cs typeface="+mn-lt"/>
              </a:rPr>
              <a:t>The main challenges are: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Identifying why customers leave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Understanding patterns in customer behavior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Reducing churn and improving retention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093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F967-6A35-D40E-60C2-D1521F0D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BCA4-5AEB-098B-DCE8-C7B99C70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The main objectives of this project are: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To calculate the churn rate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To </a:t>
            </a:r>
            <a:r>
              <a:rPr lang="en-GB" dirty="0" err="1">
                <a:ea typeface="+mn-lt"/>
                <a:cs typeface="+mn-lt"/>
              </a:rPr>
              <a:t>analyze</a:t>
            </a:r>
            <a:r>
              <a:rPr lang="en-GB" dirty="0">
                <a:ea typeface="+mn-lt"/>
                <a:cs typeface="+mn-lt"/>
              </a:rPr>
              <a:t> customer </a:t>
            </a:r>
            <a:r>
              <a:rPr lang="en-GB" dirty="0" err="1">
                <a:ea typeface="+mn-lt"/>
                <a:cs typeface="+mn-lt"/>
              </a:rPr>
              <a:t>behavior</a:t>
            </a:r>
            <a:r>
              <a:rPr lang="en-GB" dirty="0">
                <a:ea typeface="+mn-lt"/>
                <a:cs typeface="+mn-lt"/>
              </a:rPr>
              <a:t>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To identify factors affecting churn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To provide data-driven recommendations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01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7E6-0C38-26BE-70C4-CCAFD3E1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Dataset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F4A33-013B-3BFB-847F-8A424D9E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The dataset used in this project contains customer-related information such as usage patterns and churn status.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Number of records: Approximately 500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Contains both numerical and categorical data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Target variable: Churn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357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A78E-7075-7E2D-DA52-E45D89D6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Data Cleaning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9126-A042-820D-8E47-4C3151C3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Data cleaning was performed to ensure accuracy and consistency.</a:t>
            </a:r>
            <a:endParaRPr lang="en-US"/>
          </a:p>
          <a:p>
            <a:r>
              <a:rPr lang="en-GB">
                <a:ea typeface="+mn-lt"/>
                <a:cs typeface="+mn-lt"/>
              </a:rPr>
              <a:t>The following steps were taken: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Removed missing values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Removed duplicate records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Standardized column names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Converted categorical data into numerical format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44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EF5B-C42E-1F6B-8927-935B16DF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Exploratory Data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EEA05-5F9A-DFF2-2345-3FDD3F5D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45" y="2587752"/>
            <a:ext cx="6963279" cy="35935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n-lt"/>
                <a:cs typeface="+mn-lt"/>
              </a:rPr>
              <a:t>Exploratory Data Analysis (EDA) was performed to understand the data.</a:t>
            </a:r>
            <a:endParaRPr lang="en-US"/>
          </a:p>
          <a:p>
            <a:r>
              <a:rPr lang="en-GB" dirty="0">
                <a:ea typeface="+mn-lt"/>
                <a:cs typeface="+mn-lt"/>
              </a:rPr>
              <a:t>The following were </a:t>
            </a:r>
            <a:r>
              <a:rPr lang="en-GB" dirty="0" err="1">
                <a:ea typeface="+mn-lt"/>
                <a:cs typeface="+mn-lt"/>
              </a:rPr>
              <a:t>analyzed</a:t>
            </a:r>
            <a:r>
              <a:rPr lang="en-GB" dirty="0">
                <a:ea typeface="+mn-lt"/>
                <a:cs typeface="+mn-lt"/>
              </a:rPr>
              <a:t>: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Distribution of churn and non-churn customers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Patterns in customer </a:t>
            </a:r>
            <a:r>
              <a:rPr lang="en-GB" dirty="0" err="1">
                <a:ea typeface="+mn-lt"/>
                <a:cs typeface="+mn-lt"/>
              </a:rPr>
              <a:t>behavior</a:t>
            </a:r>
            <a:r>
              <a:rPr lang="en-GB" dirty="0">
                <a:ea typeface="+mn-lt"/>
                <a:cs typeface="+mn-lt"/>
              </a:rPr>
              <a:t>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Relationships between variables</a:t>
            </a:r>
            <a:endParaRPr lang="en-GB"/>
          </a:p>
          <a:p>
            <a:endParaRPr lang="en-GB" dirty="0"/>
          </a:p>
        </p:txBody>
      </p:sp>
      <p:pic>
        <p:nvPicPr>
          <p:cNvPr id="4" name="Picture 3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C27383F2-B83E-EF17-86B2-9E893227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71" y="2521165"/>
            <a:ext cx="2469550" cy="2598266"/>
          </a:xfrm>
          <a:prstGeom prst="rect">
            <a:avLst/>
          </a:prstGeom>
        </p:spPr>
      </p:pic>
      <p:pic>
        <p:nvPicPr>
          <p:cNvPr id="5" name="Picture 4" descr="A group of blue and white bars&#10;&#10;AI-generated content may be incorrect.">
            <a:extLst>
              <a:ext uri="{FF2B5EF4-FFF2-40B4-BE49-F238E27FC236}">
                <a16:creationId xmlns:a16="http://schemas.microsoft.com/office/drawing/2014/main" id="{442CC8D0-7B69-6440-D430-0D68100AA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800000" flipV="1">
            <a:off x="8843736" y="2399272"/>
            <a:ext cx="3216047" cy="283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8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9710-90A0-8B1F-12B0-96FFB8C5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Churn Distribution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FF2D-636E-9D7D-B16A-0D27BE01C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85" y="2587752"/>
            <a:ext cx="8090036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churn distribution shows the number of customers who stayed and those who left.</a:t>
            </a:r>
            <a:endParaRPr lang="en-US"/>
          </a:p>
          <a:p>
            <a:r>
              <a:rPr lang="en-GB" dirty="0">
                <a:ea typeface="+mn-lt"/>
                <a:cs typeface="+mn-lt"/>
              </a:rPr>
              <a:t>Key observation: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A significant portion of customers have churned, indicating a need for improvement in retention strategies.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E204-CA94-24EC-EE52-8B3630CD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360" y="2583288"/>
            <a:ext cx="3925508" cy="307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9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41C2-7325-5E82-B199-60CF084E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ea typeface="+mj-lt"/>
                <a:cs typeface="+mj-lt"/>
              </a:rPr>
              <a:t>Data Visualization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8ED1-9599-99D6-EFD7-55F52ED1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18" y="2618644"/>
            <a:ext cx="5243632" cy="3943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Various visualizations were used to understand data patterns: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Histograms to study feature distribution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Boxplots to detect outliers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Heatmap to </a:t>
            </a:r>
            <a:r>
              <a:rPr lang="en-GB" dirty="0" err="1">
                <a:ea typeface="+mn-lt"/>
                <a:cs typeface="+mn-lt"/>
              </a:rPr>
              <a:t>analyze</a:t>
            </a:r>
            <a:r>
              <a:rPr lang="en-GB" dirty="0">
                <a:ea typeface="+mn-lt"/>
                <a:cs typeface="+mn-lt"/>
              </a:rPr>
              <a:t> correlation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A diagram of a heatmap&#10;&#10;AI-generated content may be incorrect.">
            <a:extLst>
              <a:ext uri="{FF2B5EF4-FFF2-40B4-BE49-F238E27FC236}">
                <a16:creationId xmlns:a16="http://schemas.microsoft.com/office/drawing/2014/main" id="{6B69DD01-3BFD-228C-33C3-E32C2F5A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75" y="2368507"/>
            <a:ext cx="3075288" cy="3325770"/>
          </a:xfrm>
          <a:prstGeom prst="rect">
            <a:avLst/>
          </a:prstGeom>
        </p:spPr>
      </p:pic>
      <p:pic>
        <p:nvPicPr>
          <p:cNvPr id="5" name="Picture 4" descr="A graph of a box&#10;&#10;AI-generated content may be incorrect.">
            <a:extLst>
              <a:ext uri="{FF2B5EF4-FFF2-40B4-BE49-F238E27FC236}">
                <a16:creationId xmlns:a16="http://schemas.microsoft.com/office/drawing/2014/main" id="{B9D0CBEE-FA53-16AA-47EF-4C9DDF53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284" y="2478817"/>
            <a:ext cx="3398109" cy="352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0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DB44-53C0-FAB6-697B-74449CCF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Key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64E7-1268-7C82-F457-8D9FEFBC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analysis included: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Group comparison of churn vs non-churn customers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Correlation analysis to identify key influencing factors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Hypothesis testing to validate assumptions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265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D90B-9422-6C83-F58A-493FD384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Key Findings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3F7F-A0DC-C9F8-845C-B3DDE875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main findings from the analysis are: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Churn rate is significant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Customers with lower usage are more likely to churn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Some features strongly influence churn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Customer engagement plays an important role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209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E4A4-F697-26ED-7E11-AFC212A7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773A-947A-3E44-5994-DC40286B1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Important insights derived from the data: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Customer activity level directly impacts churn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Highly engaged customers are less likely to leave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Data can help identify at-risk customers early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97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8FD6-1009-AB32-5C01-2EF5D984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Recommendations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38EC4-CFBC-168D-BE12-83DE1581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Based on the analysis, the following recommendations are suggested: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Provide special offers to low-usage customers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Improve customer engagement strategies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Introduce loyalty and reward programs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Use predictive models to identify potential churn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14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A292-13B9-F648-CF28-5D80115E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Business Impact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5581-79D1-FAD6-AEEF-2681153A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Implementing these recommendations can result in: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Reduced customer churn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Increased customer retention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Improved revenue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Better decision-making using data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0763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C8C6-E07C-B546-7492-87A583D7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9C00C-1D9C-081B-F0BA-208860881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3210230"/>
            <a:ext cx="10268712" cy="35399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This project successfully </a:t>
            </a:r>
            <a:r>
              <a:rPr lang="en-GB" dirty="0" err="1">
                <a:ea typeface="+mn-lt"/>
                <a:cs typeface="+mn-lt"/>
              </a:rPr>
              <a:t>analyzed</a:t>
            </a:r>
            <a:r>
              <a:rPr lang="en-GB" dirty="0">
                <a:ea typeface="+mn-lt"/>
                <a:cs typeface="+mn-lt"/>
              </a:rPr>
              <a:t> customer churn using a structured data analysis approach.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Key factors affecting churn were identified, and practical recommendations were provided to improve customer retention and business performance.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46508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JuxtaposeVTI</vt:lpstr>
      <vt:lpstr>Customer Churn Analysis</vt:lpstr>
      <vt:lpstr>Introduction</vt:lpstr>
      <vt:lpstr>Problem Statement</vt:lpstr>
      <vt:lpstr>Objectives</vt:lpstr>
      <vt:lpstr>Dataset Overview</vt:lpstr>
      <vt:lpstr>Data Cleaning</vt:lpstr>
      <vt:lpstr>Exploratory Data Analysis</vt:lpstr>
      <vt:lpstr>Churn Distribution</vt:lpstr>
      <vt:lpstr>Data Visualization Insights</vt:lpstr>
      <vt:lpstr>Key Analysis</vt:lpstr>
      <vt:lpstr>Key Findings</vt:lpstr>
      <vt:lpstr>Insights</vt:lpstr>
      <vt:lpstr>Recommendations</vt:lpstr>
      <vt:lpstr>Business Impact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2026-04-05T11:04:57Z</dcterms:created>
  <dcterms:modified xsi:type="dcterms:W3CDTF">2026-04-05T11:39:29Z</dcterms:modified>
</cp:coreProperties>
</file>